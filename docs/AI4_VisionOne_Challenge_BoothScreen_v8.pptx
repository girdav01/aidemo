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AI Security Challenge</a:t>
            </a:r>
          </a:p>
          <a:p>
            <a:pPr algn="ctr">
              <a:spcAft>
                <a:spcPts val="0"/>
              </a:spcAft>
            </a:pPr>
            <a:r>
              <a:rPr sz="2200" b="0">
                <a:solidFill>
                  <a:srgbClr val="93A1B1"/>
                </a:solidFill>
                <a:latin typeface="Arial"/>
              </a:rPr>
              <a:t>Trend Vision One™  ·  Ai4 2026  ·  The Venetian, Las Vegas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D71920"/>
                </a:solidFill>
                <a:latin typeface="Arial"/>
              </a:rPr>
              <a:t>Can you break the bot?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Can you</a:t>
            </a:r>
          </a:p>
          <a:p>
            <a:pPr algn="ctr">
              <a:spcAft>
                <a:spcPts val="600"/>
              </a:spcAft>
            </a:pPr>
            <a:r>
              <a:rPr sz="5400" b="1">
                <a:solidFill>
                  <a:srgbClr val="D71920"/>
                </a:solidFill>
                <a:latin typeface="Arial"/>
              </a:rPr>
              <a:t>break the bot?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D71920"/>
                </a:solidFill>
                <a:latin typeface="Arial"/>
              </a:rPr>
              <a:t>How to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E6EDF3"/>
                </a:solidFill>
                <a:latin typeface="Arial"/>
              </a:rPr>
              <a:t>•  Grab a Challenge Passport at the counter.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E6EDF3"/>
                </a:solidFill>
                <a:latin typeface="Arial"/>
              </a:rPr>
              <a:t>•  Clear any station in about 5 minutes with a TrendAI guide.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E6EDF3"/>
                </a:solidFill>
                <a:latin typeface="Arial"/>
              </a:rPr>
              <a:t>•  Earn a stamp in each pillar — Visibility · Control · Governance.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E6EDF3"/>
                </a:solidFill>
                <a:latin typeface="Arial"/>
              </a:rPr>
              <a:t>•  Watch your name climb the live leaderboard on this screen.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E6EDF3"/>
                </a:solidFill>
                <a:latin typeface="Arial"/>
              </a:rPr>
              <a:t>•  One challenge per pillar fills your passport and enters the grand-prize draw.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E3B341"/>
                </a:solidFill>
                <a:latin typeface="Arial"/>
              </a:rPr>
              <a:t>Only 37% of organizations test their AI before they ship it. Be the exception.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D71920"/>
                </a:solidFill>
                <a:latin typeface="Arial"/>
              </a:rPr>
              <a:t>Eight Challenges · Visibility → Control → Governance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5156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3931920"/>
                <a:gridCol w="3657600"/>
              </a:tblGrid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Challenge</a:t>
                      </a:r>
                    </a:p>
                  </a:txBody>
                  <a:tcPr anchor="ctr" marL="73152" marR="73152" marT="27432" marB="27432">
                    <a:solidFill>
                      <a:srgbClr val="D719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Pillar</a:t>
                      </a:r>
                    </a:p>
                  </a:txBody>
                  <a:tcPr anchor="ctr" marL="73152" marR="73152" marT="27432" marB="27432">
                    <a:solidFill>
                      <a:srgbClr val="D719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Your mission in Vision One</a:t>
                      </a:r>
                    </a:p>
                  </a:txBody>
                  <a:tcPr anchor="ctr" marL="73152" marR="73152" marT="27432" marB="27432">
                    <a:solidFill>
                      <a:srgbClr val="D719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You clear it when…</a:t>
                      </a:r>
                    </a:p>
                  </a:txBody>
                  <a:tcPr anchor="ctr" marL="73152" marR="73152" marT="27432" marB="27432">
                    <a:solidFill>
                      <a:srgbClr val="D71920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1  Break the Bot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3B341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DF3"/>
                          </a:solidFill>
                          <a:latin typeface="Arial"/>
                        </a:rPr>
                        <a:t>Jailbreak a live chatbot to leak a planted secret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3A1B1"/>
                          </a:solidFill>
                          <a:latin typeface="Arial"/>
                        </a:rPr>
                        <a:t>AI Guard blocks you and logs the attempt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2  Stop the Leak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3B341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DF3"/>
                          </a:solidFill>
                          <a:latin typeface="Arial"/>
                        </a:rPr>
                        <a:t>Coax the app into spilling fake PII or source code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3A1B1"/>
                          </a:solidFill>
                          <a:latin typeface="Arial"/>
                        </a:rPr>
                        <a:t>AI Guard redacts the sensitive data in real time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3  Find the Flaw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3B341"/>
                          </a:solidFill>
                          <a:latin typeface="Arial"/>
                        </a:rPr>
                        <a:t>Visibility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DF3"/>
                          </a:solidFill>
                          <a:latin typeface="Arial"/>
                        </a:rPr>
                        <a:t>Run AI Scanner on a vulnerable model pre-deploy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3A1B1"/>
                          </a:solidFill>
                          <a:latin typeface="Arial"/>
                        </a:rPr>
                        <a:t>You name the OWASP LLM risk behind the top finding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4  Trace the Poison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3B341"/>
                          </a:solidFill>
                          <a:latin typeface="Arial"/>
                        </a:rPr>
                        <a:t>Visibility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DF3"/>
                          </a:solidFill>
                          <a:latin typeface="Arial"/>
                        </a:rPr>
                        <a:t>Catch a hardcoded secret + bad dependency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3A1B1"/>
                          </a:solidFill>
                          <a:latin typeface="Arial"/>
                        </a:rPr>
                        <a:t>You trace it to a downstream app via the SBOM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5  Shadow AI Hunt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3B341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DF3"/>
                          </a:solidFill>
                          <a:latin typeface="Arial"/>
                        </a:rPr>
                        <a:t>Spot unsanctioned GenAI use, then set a policy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3A1B1"/>
                          </a:solidFill>
                          <a:latin typeface="Arial"/>
                        </a:rPr>
                        <a:t>Your policy blocks the next risky prompt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6  Tame the Agent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3B341"/>
                          </a:solidFill>
                          <a:latin typeface="Arial"/>
                        </a:rPr>
                        <a:t>Governance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DF3"/>
                          </a:solidFill>
                          <a:latin typeface="Arial"/>
                        </a:rPr>
                        <a:t>Push a rogue agent toward an unauthorized action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3A1B1"/>
                          </a:solidFill>
                          <a:latin typeface="Arial"/>
                        </a:rPr>
                        <a:t>Governance denies it — with a full audit trail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7  Watch the MCP Wire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3B341"/>
                          </a:solidFill>
                          <a:latin typeface="Arial"/>
                        </a:rPr>
                        <a:t>Governance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DF3"/>
                          </a:solidFill>
                          <a:latin typeface="Arial"/>
                        </a:rPr>
                        <a:t>Spot a rogue MCP tool-call at the gateway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3A1B1"/>
                          </a:solidFill>
                          <a:latin typeface="Arial"/>
                        </a:rPr>
                        <a:t>The call is blocked at the gateway and logged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8  Boss Level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3B341"/>
                          </a:solidFill>
                          <a:latin typeface="Arial"/>
                        </a:rPr>
                        <a:t>Capstone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6EDF3"/>
                          </a:solidFill>
                          <a:latin typeface="Arial"/>
                        </a:rPr>
                        <a:t>Speed-run scan → protect → validate → improve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3A1B1"/>
                          </a:solidFill>
                          <a:latin typeface="Arial"/>
                        </a:rPr>
                        <a:t>All four steps done before the timer ends</a:t>
                      </a:r>
                    </a:p>
                  </a:txBody>
                  <a:tcPr anchor="ctr" marL="73152" marR="73152" marT="27432" marB="27432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D71920"/>
                </a:solidFill>
                <a:latin typeface="Arial"/>
              </a:rPr>
              <a:t>Find your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3B341"/>
                </a:solidFill>
                <a:latin typeface="Arial"/>
              </a:rPr>
              <a:t>Execs / CIO / CAIO / CISO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E6EDF3"/>
                </a:solidFill>
                <a:latin typeface="Arial"/>
              </a:rPr>
              <a:t>Start at Stop the Leak (#2) and Shadow AI Hunt (#5) — fast, business-relevant wins.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E3B341"/>
                </a:solidFill>
                <a:latin typeface="Arial"/>
              </a:rPr>
              <a:t>AI Builders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E6EDF3"/>
                </a:solidFill>
                <a:latin typeface="Arial"/>
              </a:rPr>
              <a:t>Find the Flaw (#3), Trace the Poison (#4), Tame the Agent (#6), Watch the MCP Wire (#7), Boss Level (#8).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E3B341"/>
                </a:solidFill>
                <a:latin typeface="Arial"/>
              </a:rPr>
              <a:t>Everyone / walk-ups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E6EDF3"/>
                </a:solidFill>
                <a:latin typeface="Arial"/>
              </a:rPr>
              <a:t>Break the Bot (#1) is the magnet — lead with it whenever the booth is quiet.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93A1B1"/>
                </a:solidFill>
                <a:latin typeface="Arial"/>
              </a:rPr>
              <a:t>Everyone hits one Visibility, one Control, and one Governance station.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Don't just build AI.</a:t>
            </a:r>
          </a:p>
          <a:p>
            <a:pPr algn="ctr">
              <a:spcAft>
                <a:spcPts val="600"/>
              </a:spcAft>
            </a:pPr>
            <a:r>
              <a:rPr sz="5400" b="1">
                <a:solidFill>
                  <a:srgbClr val="D71920"/>
                </a:solidFill>
                <a:latin typeface="Arial"/>
              </a:rPr>
              <a:t>Secure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D71920"/>
                </a:solidFill>
                <a:latin typeface="Arial"/>
              </a:rPr>
              <a:t>Prizes &amp;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E6EDF3"/>
                </a:solidFill>
                <a:latin typeface="Arial"/>
              </a:rPr>
              <a:t>•  Beat one challenge → instant swag.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E6EDF3"/>
                </a:solidFill>
                <a:latin typeface="Arial"/>
              </a:rPr>
              <a:t>•  Full passport (one per pillar) → premium swag + grand-prize draw.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E6EDF3"/>
                </a:solidFill>
                <a:latin typeface="Arial"/>
              </a:rPr>
              <a:t>•  Daily leaderboard top 3 → headline prize, drawn at 4 PM each day.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E6EDF3"/>
                </a:solidFill>
                <a:latin typeface="Arial"/>
              </a:rPr>
              <a:t>•  Boss Level finishers → exclusive “AI Fearlessly” challenge coin.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D71920"/>
                </a:solidFill>
                <a:latin typeface="Arial"/>
              </a:rPr>
              <a:t>Don't just build AI. Secure it. — AI Fearlessly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David Girard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93A1B1"/>
                </a:solidFill>
                <a:latin typeface="Arial"/>
              </a:rPr>
              <a:t>david_girard@trendmicro.com</a:t>
            </a:r>
          </a:p>
          <a:p>
            <a:pPr algn="ctr">
              <a:spcAft>
                <a:spcPts val="600"/>
              </a:spcAft>
            </a:pPr>
            <a:r>
              <a:rPr sz="2400" b="1">
                <a:solidFill>
                  <a:srgbClr val="D71920"/>
                </a:solidFill>
                <a:latin typeface="Arial"/>
              </a:rPr>
              <a:t>AI Fearlessly — clear a challenge, then talk to our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